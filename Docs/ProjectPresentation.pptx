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88" r:id="rId12"/>
    <p:sldId id="289" r:id="rId13"/>
    <p:sldId id="290" r:id="rId14"/>
    <p:sldId id="291" r:id="rId15"/>
    <p:sldId id="292" r:id="rId16"/>
    <p:sldId id="293" r:id="rId17"/>
    <p:sldId id="298" r:id="rId18"/>
    <p:sldId id="294" r:id="rId19"/>
    <p:sldId id="299" r:id="rId20"/>
    <p:sldId id="295" r:id="rId21"/>
    <p:sldId id="296" r:id="rId22"/>
    <p:sldId id="297" r:id="rId23"/>
    <p:sldId id="266" r:id="rId24"/>
    <p:sldId id="270" r:id="rId25"/>
    <p:sldId id="271" r:id="rId26"/>
    <p:sldId id="272" r:id="rId27"/>
    <p:sldId id="273" r:id="rId28"/>
    <p:sldId id="281" r:id="rId29"/>
    <p:sldId id="274" r:id="rId30"/>
    <p:sldId id="275" r:id="rId31"/>
    <p:sldId id="276" r:id="rId32"/>
    <p:sldId id="277" r:id="rId33"/>
    <p:sldId id="300" r:id="rId34"/>
    <p:sldId id="269" r:id="rId35"/>
    <p:sldId id="282" r:id="rId36"/>
    <p:sldId id="284" r:id="rId37"/>
    <p:sldId id="285" r:id="rId38"/>
    <p:sldId id="286" r:id="rId39"/>
    <p:sldId id="287" r:id="rId40"/>
    <p:sldId id="301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5853"/>
  </p:normalViewPr>
  <p:slideViewPr>
    <p:cSldViewPr snapToGrid="0">
      <p:cViewPr varScale="1">
        <p:scale>
          <a:sx n="90" d="100"/>
          <a:sy n="90" d="100"/>
        </p:scale>
        <p:origin x="23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C74346-43EB-D847-84BC-E646661187BE}" type="datetimeFigureOut">
              <a:rPr lang="en-US" smtClean="0"/>
              <a:t>6/9/24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3C0F1C-5457-D042-9BFE-F36B432B3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048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C0F1C-5457-D042-9BFE-F36B432B300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565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C0F1C-5457-D042-9BFE-F36B432B300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51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C0F1C-5457-D042-9BFE-F36B432B300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184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E6EA6-58F3-C67F-DBDD-4D6EB8E59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D038C0-0A3F-EFF1-9366-AA9C3CAAC3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83A09-7641-E297-D523-AAE2E7D94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BEFFB-ECB6-5E49-A3FF-873306011022}" type="datetimeFigureOut">
              <a:rPr lang="en-US" smtClean="0"/>
              <a:t>6/9/24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A3F91-C759-7708-2024-E9BE3FBDF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F6667-DBD1-24B3-1729-0671E61D8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A8436-5D8D-AA49-994D-289458287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324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4ADA9-8DB2-840D-0849-508F2EEF7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6BB4E-FBDD-1E04-404D-5B8AE6600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E0918-439F-6545-33F5-743286708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BEFFB-ECB6-5E49-A3FF-873306011022}" type="datetimeFigureOut">
              <a:rPr lang="en-US" smtClean="0"/>
              <a:t>6/9/24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3262E-38B2-3A10-1AC4-96ED735AA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E8D1F-08CF-7A7E-5AAE-942CA7903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A8436-5D8D-AA49-994D-289458287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15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CD804-760A-CBBB-551E-35553BE2D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AE2CB-32CD-D8DB-9C09-1BD72DD3D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725D1-5BDE-AC5E-8B17-203EAC33D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BEFFB-ECB6-5E49-A3FF-873306011022}" type="datetimeFigureOut">
              <a:rPr lang="en-US" smtClean="0"/>
              <a:t>6/9/24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C2AB9-3D1F-B348-B234-53C7D6023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1E1B5-6593-42DA-5DAB-44B0F72D1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A8436-5D8D-AA49-994D-289458287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984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48BE4-CAF7-03B3-E558-8BF067DC5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0CEE8-B09B-354D-D064-6847DBC7A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74EC98-36CC-799D-330A-58780008B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1E4DA-7D3E-ADC7-7D53-2F47A8C10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BEFFB-ECB6-5E49-A3FF-873306011022}" type="datetimeFigureOut">
              <a:rPr lang="en-US" smtClean="0"/>
              <a:t>6/9/24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3C813-5525-DC1E-3264-58D56DBD4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B1CDE-34B6-9892-8DBE-56491D331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A8436-5D8D-AA49-994D-289458287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394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862F7-B6E3-194F-8522-46867DDD5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012AD-59C1-3D07-D91E-AAA8F348C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C736E0-C98D-876E-EB66-7188AB3618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FEA0CA-F86F-376B-8473-771F0B5A5B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BB4CFA-25DC-AB09-75BE-6EA483797A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745819-6BFC-A09B-B795-CB827604C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BEFFB-ECB6-5E49-A3FF-873306011022}" type="datetimeFigureOut">
              <a:rPr lang="en-US" smtClean="0"/>
              <a:t>6/9/24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5E0CEC-6B0A-D36D-2C84-76CDD0660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DE2BC-E714-B85F-5E64-F15C53A4C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A8436-5D8D-AA49-994D-289458287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261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23FCE-AEB1-0153-B25D-0C021452F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BA0EF7-0E8A-FCB2-D127-318DEBAB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BEFFB-ECB6-5E49-A3FF-873306011022}" type="datetimeFigureOut">
              <a:rPr lang="en-US" smtClean="0"/>
              <a:t>6/9/24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22D930-2427-4B03-38F9-3C8E7988A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F5B7A8-C428-1960-EE74-5D015BF98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A8436-5D8D-AA49-994D-289458287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730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6ABF88-683E-315F-A139-EA3DEFE08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BEFFB-ECB6-5E49-A3FF-873306011022}" type="datetimeFigureOut">
              <a:rPr lang="en-US" smtClean="0"/>
              <a:t>6/9/24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B05CE2-C45F-2FCB-473D-31C78AD78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5AAB5-D1DA-17DD-FF83-35B693289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A8436-5D8D-AA49-994D-289458287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372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9B4A9-F7AE-F5F0-922C-6DA641999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A5D30-A5DD-E1C5-2B48-742159E68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EE8009-CC07-6C18-1605-6A1B29E53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0A51F-3A6A-3E26-6F3C-C5FDF0FFB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BEFFB-ECB6-5E49-A3FF-873306011022}" type="datetimeFigureOut">
              <a:rPr lang="en-US" smtClean="0"/>
              <a:t>6/9/24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DD4CC-07EA-999F-775C-C4494B2FA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C47C5-C5D6-BA3E-3C3E-AF3739664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A8436-5D8D-AA49-994D-289458287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74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8B6EC-2061-ABCE-EE33-5D084407D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2B7FF1-7BC7-BFC8-B851-DF32ACB630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89B45F-75C6-7675-FD8B-317FDF8B7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23CF7-59A7-0C46-03CF-87017DBCA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BEFFB-ECB6-5E49-A3FF-873306011022}" type="datetimeFigureOut">
              <a:rPr lang="en-US" smtClean="0"/>
              <a:t>6/9/24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0AAEC-0CDB-5AF3-5F6A-69B2070E8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AD3C0D-385F-D0CB-CDE0-4B03902B9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A8436-5D8D-AA49-994D-289458287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782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84BE6-9480-7397-1595-D22270ABF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BE8F94-E1F5-DED0-5C82-90058D5AE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8BF46-8CC1-6E89-7D85-A136D6249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BEFFB-ECB6-5E49-A3FF-873306011022}" type="datetimeFigureOut">
              <a:rPr lang="en-US" smtClean="0"/>
              <a:t>6/9/24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E00B1-CBE1-16C5-4EF0-C076CD5D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735C6-EF87-16F0-D2D7-EC8A6F288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A8436-5D8D-AA49-994D-289458287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969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5B3775-7E40-D789-9E4A-31262A916B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2A9E9B-841C-46C8-A5DE-7FCF59142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ED4C7-DB3A-AFC2-0F4F-F7B2662EC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BEFFB-ECB6-5E49-A3FF-873306011022}" type="datetimeFigureOut">
              <a:rPr lang="en-US" smtClean="0"/>
              <a:t>6/9/24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C8BE9-A60C-71DE-E98C-363878696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0B7D7-B8BA-9B54-B11C-6E2EDC487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A8436-5D8D-AA49-994D-289458287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960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E99D4A-FD80-CD85-DA60-1A6B66DD8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C5DB1-1F5F-66D0-C056-B08FA994A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50DDC-B760-5B7B-1A2F-3AFB5626F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BEFFB-ECB6-5E49-A3FF-873306011022}" type="datetimeFigureOut">
              <a:rPr lang="en-US" smtClean="0"/>
              <a:t>6/9/24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6FA8C-C78B-06A2-EC7B-12C1983D6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84C6F-EF44-B65C-B09A-6D389778E7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AA8436-5D8D-AA49-994D-289458287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860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3F5DFA-132B-B2D3-582B-938D1877D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1383528"/>
            <a:ext cx="5925989" cy="3167510"/>
          </a:xfrm>
        </p:spPr>
        <p:txBody>
          <a:bodyPr anchor="b">
            <a:normAutofit/>
          </a:bodyPr>
          <a:lstStyle/>
          <a:p>
            <a:pPr algn="r"/>
            <a:r>
              <a:rPr lang="en-US" sz="5300" dirty="0"/>
              <a:t>Project 1 - Analyzing New York City Taxi Data with Spark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2F395A-775F-7D17-DF95-F55714ED6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1" y="4582814"/>
            <a:ext cx="5925987" cy="1312657"/>
          </a:xfrm>
        </p:spPr>
        <p:txBody>
          <a:bodyPr anchor="t">
            <a:normAutofit/>
          </a:bodyPr>
          <a:lstStyle/>
          <a:p>
            <a:pPr algn="r"/>
            <a:r>
              <a:rPr lang="en-US"/>
              <a:t>Group 12</a:t>
            </a:r>
          </a:p>
        </p:txBody>
      </p:sp>
      <p:pic>
        <p:nvPicPr>
          <p:cNvPr id="1026" name="Picture 2" descr="University of Tartu - Wikipedia">
            <a:extLst>
              <a:ext uri="{FF2B5EF4-FFF2-40B4-BE49-F238E27FC236}">
                <a16:creationId xmlns:a16="http://schemas.microsoft.com/office/drawing/2014/main" id="{F0E5F850-068A-D6B3-3D4D-711FA7681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232" y="2115012"/>
            <a:ext cx="2624408" cy="2624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2523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F47CE-BD86-3A9E-A306-8ED768066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76722-9A66-12AC-0785-DA29DCCF5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432334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Objective</a:t>
            </a:r>
          </a:p>
          <a:p>
            <a:r>
              <a:rPr lang="en-US" dirty="0"/>
              <a:t>Analyze New York City taxi data using Spark for insights.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E1CB96-4EFB-9578-D786-874340CE0630}"/>
              </a:ext>
            </a:extLst>
          </p:cNvPr>
          <p:cNvSpPr txBox="1">
            <a:spLocks/>
          </p:cNvSpPr>
          <p:nvPr/>
        </p:nvSpPr>
        <p:spPr>
          <a:xfrm>
            <a:off x="6096000" y="1690688"/>
            <a:ext cx="4973053" cy="503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/>
              <a:t>Analytical Goals</a:t>
            </a:r>
          </a:p>
          <a:p>
            <a:r>
              <a:rPr lang="en-US" dirty="0"/>
              <a:t>Compute utilization per taxi/driver.</a:t>
            </a:r>
          </a:p>
          <a:p>
            <a:r>
              <a:rPr lang="en-US" dirty="0"/>
              <a:t>Determine the average time for a taxi to find its next fare per destination borough.</a:t>
            </a:r>
          </a:p>
          <a:p>
            <a:r>
              <a:rPr lang="en-US" dirty="0"/>
              <a:t>Count trips starting and ending within the same borough and between different boroughs.</a:t>
            </a:r>
          </a:p>
        </p:txBody>
      </p:sp>
    </p:spTree>
    <p:extLst>
      <p:ext uri="{BB962C8B-B14F-4D97-AF65-F5344CB8AC3E}">
        <p14:creationId xmlns:p14="http://schemas.microsoft.com/office/powerpoint/2010/main" val="3637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84F79-86D2-73B8-4FB7-46826C0C8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973C5-025C-13F2-2014-BD0446BEF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500" b="1" dirty="0"/>
              <a:t>Data Enrichment</a:t>
            </a:r>
          </a:p>
          <a:p>
            <a:r>
              <a:rPr lang="en-US" sz="3000" dirty="0"/>
              <a:t>Enriched taxi data with borough names using </a:t>
            </a:r>
            <a:r>
              <a:rPr lang="en-US" sz="3000" dirty="0" err="1"/>
              <a:t>GeoJSON</a:t>
            </a:r>
            <a:r>
              <a:rPr lang="en-US" sz="3000" dirty="0"/>
              <a:t> and Shapely.</a:t>
            </a:r>
          </a:p>
          <a:p>
            <a:pPr marL="0" indent="0">
              <a:buNone/>
            </a:pPr>
            <a:r>
              <a:rPr lang="en-US" sz="3500" b="1" dirty="0"/>
              <a:t>Data Cleansing</a:t>
            </a:r>
          </a:p>
          <a:p>
            <a:r>
              <a:rPr lang="en-US" sz="3000" dirty="0"/>
              <a:t>Filtered out invalid data, such as trips with negative durations or durations exceeding 4 hours.</a:t>
            </a:r>
          </a:p>
          <a:p>
            <a:pPr marL="0" indent="0">
              <a:buNone/>
            </a:pPr>
            <a:r>
              <a:rPr lang="en-US" sz="3500" b="1" dirty="0"/>
              <a:t>Analysis Techniques</a:t>
            </a:r>
          </a:p>
          <a:p>
            <a:r>
              <a:rPr lang="en-US" sz="3000" dirty="0"/>
              <a:t>Utilization calculation using window functions.</a:t>
            </a:r>
          </a:p>
          <a:p>
            <a:r>
              <a:rPr lang="en-US" sz="3000" dirty="0"/>
              <a:t>Time to next fare computation per borough.</a:t>
            </a:r>
          </a:p>
          <a:p>
            <a:r>
              <a:rPr lang="en-US" sz="3000" dirty="0"/>
              <a:t>Trip count computations.</a:t>
            </a:r>
          </a:p>
        </p:txBody>
      </p:sp>
    </p:spTree>
    <p:extLst>
      <p:ext uri="{BB962C8B-B14F-4D97-AF65-F5344CB8AC3E}">
        <p14:creationId xmlns:p14="http://schemas.microsoft.com/office/powerpoint/2010/main" val="1823678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C6B0-7393-FC43-2397-129599B17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80777-55A9-E6F8-CDE3-D4F93DB56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37561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/>
              <a:t>Technologies Used</a:t>
            </a:r>
          </a:p>
          <a:p>
            <a:r>
              <a:rPr lang="en-US" dirty="0"/>
              <a:t>Spark for distributed data processing.</a:t>
            </a:r>
          </a:p>
          <a:p>
            <a:r>
              <a:rPr lang="en-US" dirty="0" err="1"/>
              <a:t>PySpark</a:t>
            </a:r>
            <a:r>
              <a:rPr lang="en-US" dirty="0"/>
              <a:t> for Python-based Spark programming.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9376070-A96E-2AF6-D2C0-1018B05C6B09}"/>
              </a:ext>
            </a:extLst>
          </p:cNvPr>
          <p:cNvSpPr txBox="1">
            <a:spLocks/>
          </p:cNvSpPr>
          <p:nvPr/>
        </p:nvSpPr>
        <p:spPr>
          <a:xfrm>
            <a:off x="6773327" y="1825625"/>
            <a:ext cx="413756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i="0" u="none" strike="noStrike" dirty="0">
                <a:solidFill>
                  <a:srgbClr val="000000"/>
                </a:solidFill>
                <a:effectLst/>
              </a:rPr>
              <a:t>Code Overview</a:t>
            </a:r>
          </a:p>
          <a:p>
            <a:r>
              <a:rPr lang="en-US" dirty="0"/>
              <a:t>Loaded and preprocessed data.</a:t>
            </a:r>
          </a:p>
          <a:p>
            <a:r>
              <a:rPr lang="en-US" dirty="0"/>
              <a:t>Calculated utilization and time to next fare.</a:t>
            </a:r>
          </a:p>
          <a:p>
            <a:r>
              <a:rPr lang="en-US" dirty="0"/>
              <a:t>Computed trip counts.</a:t>
            </a:r>
          </a:p>
          <a:p>
            <a:r>
              <a:rPr lang="en-US" dirty="0"/>
              <a:t>Visualized results using Matplotlib and Seaborn.</a:t>
            </a:r>
          </a:p>
        </p:txBody>
      </p:sp>
    </p:spTree>
    <p:extLst>
      <p:ext uri="{BB962C8B-B14F-4D97-AF65-F5344CB8AC3E}">
        <p14:creationId xmlns:p14="http://schemas.microsoft.com/office/powerpoint/2010/main" val="3820379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6D994-8644-362C-77F8-593C698D3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89A18-2B29-72C1-2646-8773EFA5E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313" y="1857375"/>
            <a:ext cx="6458630" cy="3403394"/>
          </a:xfrm>
        </p:spPr>
        <p:txBody>
          <a:bodyPr>
            <a:normAutofit/>
          </a:bodyPr>
          <a:lstStyle/>
          <a:p>
            <a:r>
              <a:rPr lang="en-US" dirty="0"/>
              <a:t>Utilization Analysis: Utilization per taxi calculated.</a:t>
            </a:r>
          </a:p>
          <a:p>
            <a:r>
              <a:rPr lang="en-US" dirty="0"/>
              <a:t>Time to Next Fare: Average time to the next fare computed per borough.</a:t>
            </a:r>
          </a:p>
          <a:p>
            <a:r>
              <a:rPr lang="en-US" dirty="0"/>
              <a:t>Trip Counts: Counts of trips within and between boroughs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749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C31AF-B53C-809F-C55E-0DC9ED9E1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56018-FC6D-8CEE-80FE-4FDECC95C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Utilization Distribution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36E79A3C-3C4A-6374-52CE-67128675D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351" y="1711097"/>
            <a:ext cx="7144142" cy="4580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4058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8B3D1-E676-B8E6-ED2B-34DC77E14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BE3D7-B3DE-7D4E-E843-36A329632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Average Time to </a:t>
            </a:r>
          </a:p>
          <a:p>
            <a:pPr marL="0" indent="0">
              <a:buNone/>
            </a:pPr>
            <a:r>
              <a:rPr lang="en-US" dirty="0"/>
              <a:t>Next Fare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FA66E2A-265F-1BDD-1A30-BC945BFDF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76" y="1595025"/>
            <a:ext cx="6892924" cy="481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0204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567F2-1145-E5E5-1E17-EF1ABBF5B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FB588-BF85-AB30-8216-85D63B881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Trip Counts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36CED97-9FD8-2BF6-051A-C5021639A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967" y="1417638"/>
            <a:ext cx="7401696" cy="516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8866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5B371-169C-85A4-D50C-F7FD6590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3E03A77-7EDA-2878-24F2-2ADD745B710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6380" y="1690688"/>
            <a:ext cx="6139239" cy="462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6225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3F5DFA-132B-B2D3-582B-938D1877D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1383528"/>
            <a:ext cx="5925989" cy="3167510"/>
          </a:xfrm>
        </p:spPr>
        <p:txBody>
          <a:bodyPr anchor="b">
            <a:normAutofit/>
          </a:bodyPr>
          <a:lstStyle/>
          <a:p>
            <a:pPr algn="r"/>
            <a:r>
              <a:rPr lang="en-US" sz="5300" dirty="0"/>
              <a:t>Project 2 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 Analyzing New York City Taxi Data with Spark Structured Streaming</a:t>
            </a:r>
            <a:endParaRPr lang="en-US" sz="5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2F395A-775F-7D17-DF95-F55714ED6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1" y="4582814"/>
            <a:ext cx="5925987" cy="1312657"/>
          </a:xfrm>
        </p:spPr>
        <p:txBody>
          <a:bodyPr anchor="t">
            <a:normAutofit/>
          </a:bodyPr>
          <a:lstStyle/>
          <a:p>
            <a:pPr algn="r"/>
            <a:r>
              <a:rPr lang="en-US" dirty="0"/>
              <a:t>Group 12</a:t>
            </a:r>
          </a:p>
        </p:txBody>
      </p:sp>
      <p:pic>
        <p:nvPicPr>
          <p:cNvPr id="1026" name="Picture 2" descr="University of Tartu - Wikipedia">
            <a:extLst>
              <a:ext uri="{FF2B5EF4-FFF2-40B4-BE49-F238E27FC236}">
                <a16:creationId xmlns:a16="http://schemas.microsoft.com/office/drawing/2014/main" id="{F0E5F850-068A-D6B3-3D4D-711FA7681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232" y="2115012"/>
            <a:ext cx="2624408" cy="2624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0030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5F377-B453-39C0-E016-C1410562D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477B0-648E-BEBB-4135-DD84C3402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Objective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Utilize Spark Structured Streaming to analyze NYC taxi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Compute real-time statistics for a taxi driver dashboard.</a:t>
            </a:r>
          </a:p>
          <a:p>
            <a:pPr marL="0" indent="0">
              <a:buNone/>
            </a:pPr>
            <a:r>
              <a:rPr lang="en-US" sz="3200" b="1" dirty="0"/>
              <a:t>Dataset Overview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Source: NYC Taxi dataset (sample version)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Key Attributes: Unique ID, Pick-up/Drop-off location, Pick-up/Drop-off time.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83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45322-5810-1CF0-F29D-144CDF957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A667D-0985-9193-EDEF-44377926A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Tools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Apache Spark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Spark Structured Streaming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Kafka</a:t>
            </a:r>
          </a:p>
          <a:p>
            <a:pPr marL="0" indent="0">
              <a:buNone/>
            </a:pPr>
            <a:r>
              <a:rPr lang="en-US" sz="3200" b="1" dirty="0"/>
              <a:t>Environment Setup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Reused the environment from prior Spark practice sessions.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Notebooks: </a:t>
            </a:r>
            <a:r>
              <a:rPr lang="en-US" dirty="0" err="1"/>
              <a:t>Kafka_Producer_for_Project</a:t>
            </a:r>
            <a:r>
              <a:rPr lang="en-US" dirty="0"/>
              <a:t> and Project Template.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412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50C35-BE65-A050-F1DC-24B10546E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Ingestion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3F699-AD3F-E9F4-0FA5-90FD134F6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Kafka Producer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Reads CSV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Ingests data into Kafka with required schema.</a:t>
            </a:r>
          </a:p>
          <a:p>
            <a:pPr marL="0" indent="0">
              <a:buNone/>
            </a:pPr>
            <a:r>
              <a:rPr lang="en-US" sz="3200" b="1" dirty="0"/>
              <a:t>Implementation Details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CSV file placed in the same folder as the notebook.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52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576B1-6518-E548-13C6-F335650ED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0EE76-763A-C384-B831-1EE2AE162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Spark Stream Registration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Registers Spark to the data stream.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Converts data into a manageable form.</a:t>
            </a:r>
          </a:p>
          <a:p>
            <a:pPr marL="0" indent="0">
              <a:buNone/>
            </a:pPr>
            <a:r>
              <a:rPr lang="en-US" sz="3200" b="1" dirty="0" err="1"/>
              <a:t>GeoJSON</a:t>
            </a:r>
            <a:r>
              <a:rPr lang="en-US" sz="3200" b="1" dirty="0"/>
              <a:t> 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Contains geographical boundaries of NYC boroughs.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for location-based queries.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672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2A9D2-D51A-7E7C-2F35-898401D92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Query 1 - Utilization Over Time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8FDD9-EB6E-D786-319D-FBFF770D8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 idle time per taxi over windows of 5, 10, and 15 minutes.</a:t>
            </a:r>
          </a:p>
          <a:p>
            <a:r>
              <a:rPr lang="en-US" dirty="0"/>
              <a:t>Analyze changes and find optimal window.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930CDE-6007-74A0-586E-CFFFDB932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673" y="3429000"/>
            <a:ext cx="7772400" cy="270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6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54864-B2DD-2531-E860-8B02FF57D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Query 2 - Average Time to Next Fare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DC1E9-69DB-7F19-3811-9864754EA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average time for a taxi to find the next fare per destination borough.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E79460-4110-87A1-02A1-1928E6CC0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429000"/>
            <a:ext cx="7772400" cy="191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598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536EC1-3635-BD50-20F8-6011B3F035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00325" y="288058"/>
            <a:ext cx="7358062" cy="628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058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4029-DD5A-F4DD-1597-AB864B76A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Query 3 - Trips Within Same Borough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E584D-70F1-2C07-5342-B7C697680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Count trips that started and ended within the same borough in the last hour.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C15507-0BDE-7E0F-6616-C70543C6F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429000"/>
            <a:ext cx="7772400" cy="241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867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F9540A-9D7F-A8F5-AEEB-35CD28925D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8453" y="602059"/>
            <a:ext cx="9535093" cy="565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603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9E44E-36DB-25CE-A544-6A1DD7768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4 - Trips Between Different Boroughs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AB156-FB4E-007F-E464-422951626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Count trips that started in one borough and ended in another in the last hour.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6C4956-C38A-8E56-B7E2-2936BE809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429000"/>
            <a:ext cx="7772400" cy="2479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1539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F5BFA-8E23-95E8-A2BB-72ED949A1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033FA-CB98-781A-4647-0DF20AFB9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Visualization Tools</a:t>
            </a:r>
          </a:p>
          <a:p>
            <a:r>
              <a:rPr lang="en-US" dirty="0"/>
              <a:t>Matplotlib</a:t>
            </a:r>
          </a:p>
          <a:p>
            <a:r>
              <a:rPr lang="en-US" dirty="0" err="1"/>
              <a:t>Plotly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5941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A1038-B08F-7F50-98AE-CD5B0601F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DA53E-ED1C-201F-54A8-D186090C5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Successfully analyzed NYC taxi data using Spark Structured Streaming.</a:t>
            </a:r>
          </a:p>
          <a:p>
            <a:r>
              <a:rPr lang="en-US" dirty="0"/>
              <a:t>Provided real-time statistics for taxi driver dashboard.</a:t>
            </a:r>
          </a:p>
        </p:txBody>
      </p:sp>
    </p:spTree>
    <p:extLst>
      <p:ext uri="{BB962C8B-B14F-4D97-AF65-F5344CB8AC3E}">
        <p14:creationId xmlns:p14="http://schemas.microsoft.com/office/powerpoint/2010/main" val="32200282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3F5DFA-132B-B2D3-582B-938D1877D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1383528"/>
            <a:ext cx="5925989" cy="3167510"/>
          </a:xfrm>
        </p:spPr>
        <p:txBody>
          <a:bodyPr anchor="b">
            <a:normAutofit/>
          </a:bodyPr>
          <a:lstStyle/>
          <a:p>
            <a:pPr algn="r"/>
            <a:r>
              <a:rPr lang="en-US" sz="5300" dirty="0"/>
              <a:t>Project 3 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 BD Analytics Clustering Project</a:t>
            </a:r>
            <a:endParaRPr lang="en-US" sz="5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2F395A-775F-7D17-DF95-F55714ED6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1" y="4582814"/>
            <a:ext cx="5925987" cy="1312657"/>
          </a:xfrm>
        </p:spPr>
        <p:txBody>
          <a:bodyPr anchor="t">
            <a:normAutofit/>
          </a:bodyPr>
          <a:lstStyle/>
          <a:p>
            <a:pPr algn="r"/>
            <a:r>
              <a:rPr lang="en-US" dirty="0"/>
              <a:t>Group 12</a:t>
            </a:r>
          </a:p>
        </p:txBody>
      </p:sp>
      <p:pic>
        <p:nvPicPr>
          <p:cNvPr id="1026" name="Picture 2" descr="University of Tartu - Wikipedia">
            <a:extLst>
              <a:ext uri="{FF2B5EF4-FFF2-40B4-BE49-F238E27FC236}">
                <a16:creationId xmlns:a16="http://schemas.microsoft.com/office/drawing/2014/main" id="{F0E5F850-068A-D6B3-3D4D-711FA7681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232" y="2115012"/>
            <a:ext cx="2624408" cy="2624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66189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6D6B3-0A44-45E2-6CEC-CD155FBAB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1C225-47CC-8321-CCCB-C94CBBAC2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Clustering and Recommendation of Research Papers</a:t>
            </a:r>
            <a:endParaRPr lang="en-US" dirty="0"/>
          </a:p>
          <a:p>
            <a:r>
              <a:rPr lang="en-US" dirty="0"/>
              <a:t>Overview of the project, which involves clustering similar research articles and building a search engine to recommend related publications.</a:t>
            </a:r>
          </a:p>
        </p:txBody>
      </p:sp>
    </p:spTree>
    <p:extLst>
      <p:ext uri="{BB962C8B-B14F-4D97-AF65-F5344CB8AC3E}">
        <p14:creationId xmlns:p14="http://schemas.microsoft.com/office/powerpoint/2010/main" val="3194064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8E7DC-B8A3-6FF8-21B4-866E66F36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27255-96F9-211A-0482-ABF098967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Objective</a:t>
            </a:r>
          </a:p>
          <a:p>
            <a:r>
              <a:rPr lang="en-US" dirty="0"/>
              <a:t>Simplify the search for related publications by clustering similar research articles.</a:t>
            </a:r>
          </a:p>
          <a:p>
            <a:pPr marL="0" indent="0">
              <a:buNone/>
            </a:pPr>
            <a:r>
              <a:rPr lang="en-US" sz="3200" b="1" dirty="0"/>
              <a:t>Questions Addressed</a:t>
            </a:r>
          </a:p>
          <a:p>
            <a:r>
              <a:rPr lang="en-US" dirty="0"/>
              <a:t>Can clustering similar research articles together simplify the search for related publications?</a:t>
            </a:r>
          </a:p>
          <a:p>
            <a:r>
              <a:rPr lang="en-US" dirty="0"/>
              <a:t>How can the content of the clusters be qualified?</a:t>
            </a:r>
          </a:p>
          <a:p>
            <a:r>
              <a:rPr lang="en-US" dirty="0"/>
              <a:t>How can we recommend the most similar papers leveraging clustering?</a:t>
            </a:r>
          </a:p>
        </p:txBody>
      </p:sp>
    </p:spTree>
    <p:extLst>
      <p:ext uri="{BB962C8B-B14F-4D97-AF65-F5344CB8AC3E}">
        <p14:creationId xmlns:p14="http://schemas.microsoft.com/office/powerpoint/2010/main" val="21336785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627A6-91A7-19C6-F745-4F96FD8BC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99523-20ED-7C11-60F5-63E344959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Dataset </a:t>
            </a:r>
          </a:p>
          <a:p>
            <a:r>
              <a:rPr lang="en-US" dirty="0"/>
              <a:t>DBLP-Citation-network V10</a:t>
            </a:r>
          </a:p>
          <a:p>
            <a:pPr marL="0" indent="0">
              <a:buNone/>
            </a:pPr>
            <a:r>
              <a:rPr lang="en-US" sz="3200" b="1" dirty="0"/>
              <a:t>Size</a:t>
            </a:r>
          </a:p>
          <a:p>
            <a:r>
              <a:rPr lang="en-US" dirty="0"/>
              <a:t>3,079,007 papers and 25,166,994 citation relationships.</a:t>
            </a:r>
          </a:p>
          <a:p>
            <a:r>
              <a:rPr lang="en-US" dirty="0"/>
              <a:t>We used only 1000 lines</a:t>
            </a:r>
          </a:p>
          <a:p>
            <a:pPr marL="0" indent="0">
              <a:buNone/>
            </a:pPr>
            <a:r>
              <a:rPr lang="en-US" sz="3200" b="1" dirty="0"/>
              <a:t>Schema</a:t>
            </a:r>
          </a:p>
          <a:p>
            <a:r>
              <a:rPr lang="en-US" dirty="0"/>
              <a:t>Includes fields such as title, abstract, and citations.</a:t>
            </a:r>
          </a:p>
        </p:txBody>
      </p:sp>
    </p:spTree>
    <p:extLst>
      <p:ext uri="{BB962C8B-B14F-4D97-AF65-F5344CB8AC3E}">
        <p14:creationId xmlns:p14="http://schemas.microsoft.com/office/powerpoint/2010/main" val="10765162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45115-57C0-2176-3D97-3CD888BF1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Reading and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DD4E4-D56F-232C-4CCD-1D3227D79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Reading Data</a:t>
            </a:r>
          </a:p>
          <a:p>
            <a:r>
              <a:rPr lang="en-US" dirty="0"/>
              <a:t>Using Spark to efficiently load and handle the dataset.</a:t>
            </a:r>
          </a:p>
          <a:p>
            <a:pPr marL="0" indent="0">
              <a:buNone/>
            </a:pPr>
            <a:r>
              <a:rPr lang="en-US" sz="3200" b="1" dirty="0"/>
              <a:t>Schema Understanding</a:t>
            </a:r>
          </a:p>
          <a:p>
            <a:r>
              <a:rPr lang="en-US" dirty="0"/>
              <a:t> Extracted key fields - title, abstract, etc.</a:t>
            </a:r>
          </a:p>
          <a:p>
            <a:pPr marL="0" indent="0">
              <a:buNone/>
            </a:pPr>
            <a:r>
              <a:rPr lang="en-US" sz="3200" b="1" dirty="0"/>
              <a:t>Total Records</a:t>
            </a:r>
          </a:p>
          <a:p>
            <a:r>
              <a:rPr lang="en-US" dirty="0"/>
              <a:t>Display the number of records.</a:t>
            </a:r>
          </a:p>
        </p:txBody>
      </p:sp>
    </p:spTree>
    <p:extLst>
      <p:ext uri="{BB962C8B-B14F-4D97-AF65-F5344CB8AC3E}">
        <p14:creationId xmlns:p14="http://schemas.microsoft.com/office/powerpoint/2010/main" val="24840001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0C92F-0389-0D8A-3BBB-24C5A68F8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28E40-B799-90F5-27EE-1A5D87252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Language Filtering</a:t>
            </a:r>
          </a:p>
          <a:p>
            <a:r>
              <a:rPr lang="en-US" dirty="0"/>
              <a:t>Keeping only English documents using </a:t>
            </a:r>
            <a:r>
              <a:rPr lang="en-US" dirty="0" err="1"/>
              <a:t>langid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sz="3200" b="1" dirty="0"/>
              <a:t>Text Cleaning</a:t>
            </a:r>
          </a:p>
          <a:p>
            <a:r>
              <a:rPr lang="en-US" dirty="0"/>
              <a:t>Remove stop words and custom stop words.</a:t>
            </a:r>
          </a:p>
          <a:p>
            <a:r>
              <a:rPr lang="en-US" dirty="0"/>
              <a:t>Remove punctuation and normalize case.</a:t>
            </a:r>
          </a:p>
          <a:p>
            <a:pPr marL="0" indent="0">
              <a:buNone/>
            </a:pPr>
            <a:r>
              <a:rPr lang="en-US" sz="3200" b="1" dirty="0"/>
              <a:t>Tools Used</a:t>
            </a:r>
          </a:p>
          <a:p>
            <a:r>
              <a:rPr lang="en-US" dirty="0"/>
              <a:t>Tokenizer, </a:t>
            </a:r>
            <a:r>
              <a:rPr lang="en-US" dirty="0" err="1"/>
              <a:t>StopWordsRemover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85587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00B2A-C115-401E-601E-6D8A99FC8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314E2-6CAC-F143-ACBC-E527FA838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Techniques</a:t>
            </a:r>
          </a:p>
          <a:p>
            <a:r>
              <a:rPr lang="en-US" dirty="0"/>
              <a:t>Word2Vec: Converting text into vectors.</a:t>
            </a:r>
          </a:p>
          <a:p>
            <a:pPr marL="0" indent="0">
              <a:buNone/>
            </a:pPr>
            <a:r>
              <a:rPr lang="en-US" sz="3200" b="1" dirty="0"/>
              <a:t>Output</a:t>
            </a:r>
          </a:p>
          <a:p>
            <a:r>
              <a:rPr lang="en-US" dirty="0"/>
              <a:t>Word2Vec features for each paper.</a:t>
            </a:r>
          </a:p>
        </p:txBody>
      </p:sp>
    </p:spTree>
    <p:extLst>
      <p:ext uri="{BB962C8B-B14F-4D97-AF65-F5344CB8AC3E}">
        <p14:creationId xmlns:p14="http://schemas.microsoft.com/office/powerpoint/2010/main" val="31877167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8BC03-76F4-144B-95EE-26253E180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8E7AF-61F6-EF62-BAC2-F539E0888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/>
              <a:t>Algorithm</a:t>
            </a:r>
            <a:endParaRPr lang="en-US" b="1" dirty="0"/>
          </a:p>
          <a:p>
            <a:r>
              <a:rPr lang="en-US" dirty="0"/>
              <a:t> K-means clustering.</a:t>
            </a:r>
          </a:p>
          <a:p>
            <a:pPr marL="0" indent="0">
              <a:buNone/>
            </a:pPr>
            <a:r>
              <a:rPr lang="en-US" sz="3200" b="1" dirty="0"/>
              <a:t>Optimal K</a:t>
            </a:r>
          </a:p>
          <a:p>
            <a:r>
              <a:rPr lang="en-US" dirty="0"/>
              <a:t>Determined using the Elbow method.</a:t>
            </a:r>
          </a:p>
          <a:p>
            <a:pPr marL="0" indent="0">
              <a:buNone/>
            </a:pPr>
            <a:r>
              <a:rPr lang="en-US" sz="3200" b="1" dirty="0"/>
              <a:t>Dimensionality Reduction</a:t>
            </a:r>
          </a:p>
          <a:p>
            <a:r>
              <a:rPr lang="en-US" dirty="0"/>
              <a:t>PCA to keep 95% of the variance.</a:t>
            </a:r>
          </a:p>
          <a:p>
            <a:pPr marL="0" indent="0">
              <a:buNone/>
            </a:pPr>
            <a:r>
              <a:rPr lang="en-US" sz="3200" b="1" dirty="0"/>
              <a:t>Implementation:</a:t>
            </a:r>
          </a:p>
          <a:p>
            <a:r>
              <a:rPr lang="en-US" dirty="0"/>
              <a:t>Fit K-means on the PCA-reduced data.</a:t>
            </a:r>
          </a:p>
          <a:p>
            <a:r>
              <a:rPr lang="en-US" dirty="0"/>
              <a:t>Cluster the research articles.</a:t>
            </a:r>
          </a:p>
        </p:txBody>
      </p:sp>
    </p:spTree>
    <p:extLst>
      <p:ext uri="{BB962C8B-B14F-4D97-AF65-F5344CB8AC3E}">
        <p14:creationId xmlns:p14="http://schemas.microsoft.com/office/powerpoint/2010/main" val="37999681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418BF-627A-1F65-69CE-91B27D5A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6773D-A524-0F2A-2D6C-DF06D5041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Functionality</a:t>
            </a:r>
            <a:endParaRPr lang="en-US" dirty="0"/>
          </a:p>
          <a:p>
            <a:r>
              <a:rPr lang="en-US" dirty="0"/>
              <a:t>Recommending similar papers based on title.</a:t>
            </a:r>
          </a:p>
          <a:p>
            <a:pPr marL="0" indent="0">
              <a:buNone/>
            </a:pPr>
            <a:r>
              <a:rPr lang="en-US" sz="3200" b="1" dirty="0"/>
              <a:t>Method</a:t>
            </a:r>
            <a:endParaRPr lang="en-US" dirty="0"/>
          </a:p>
          <a:p>
            <a:r>
              <a:rPr lang="en-US" dirty="0"/>
              <a:t>Identify the cluster of the input paper.</a:t>
            </a:r>
          </a:p>
          <a:p>
            <a:r>
              <a:rPr lang="en-US" dirty="0"/>
              <a:t>Calculate cosine similarity within the cluster.</a:t>
            </a:r>
          </a:p>
          <a:p>
            <a:r>
              <a:rPr lang="en-US" dirty="0"/>
              <a:t>Return top N most similar papers.</a:t>
            </a:r>
          </a:p>
        </p:txBody>
      </p:sp>
    </p:spTree>
    <p:extLst>
      <p:ext uri="{BB962C8B-B14F-4D97-AF65-F5344CB8AC3E}">
        <p14:creationId xmlns:p14="http://schemas.microsoft.com/office/powerpoint/2010/main" val="42023924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7B8E8F-3F26-83A8-0D5B-96A1DAF33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 and Analysis</a:t>
            </a:r>
          </a:p>
        </p:txBody>
      </p:sp>
      <p:pic>
        <p:nvPicPr>
          <p:cNvPr id="7" name="Content Placeholder 6" descr="A graph of a distribution of clusters&#10;&#10;Description automatically generated">
            <a:extLst>
              <a:ext uri="{FF2B5EF4-FFF2-40B4-BE49-F238E27FC236}">
                <a16:creationId xmlns:a16="http://schemas.microsoft.com/office/drawing/2014/main" id="{54C5CB16-A6EA-AC8B-1C3E-7C69828D21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4160" b="3"/>
          <a:stretch/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9" name="Picture 8" descr="A diagram of a cluster of dots&#10;&#10;Description automatically generated with medium confidence">
            <a:extLst>
              <a:ext uri="{FF2B5EF4-FFF2-40B4-BE49-F238E27FC236}">
                <a16:creationId xmlns:a16="http://schemas.microsoft.com/office/drawing/2014/main" id="{3C876F19-C5F6-6EE9-6CF6-CD5604C4C3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140"/>
          <a:stretch/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3386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DCB7B-E894-DDC4-2244-860D593BC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 Results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CFFF2B7-2D2C-BB2E-F9E4-BDC212CD0C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4735" y="2076450"/>
            <a:ext cx="9658663" cy="363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151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3F5DFA-132B-B2D3-582B-938D1877D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1383528"/>
            <a:ext cx="5925989" cy="3167510"/>
          </a:xfrm>
        </p:spPr>
        <p:txBody>
          <a:bodyPr anchor="b">
            <a:normAutofit/>
          </a:bodyPr>
          <a:lstStyle/>
          <a:p>
            <a:pPr algn="r"/>
            <a:r>
              <a:rPr lang="en-US" sz="5300" dirty="0"/>
              <a:t>Project 4 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–Federated Learning Project</a:t>
            </a:r>
            <a:endParaRPr lang="en-US" sz="5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2F395A-775F-7D17-DF95-F55714ED6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1" y="4582814"/>
            <a:ext cx="5925987" cy="1312657"/>
          </a:xfrm>
        </p:spPr>
        <p:txBody>
          <a:bodyPr anchor="t">
            <a:normAutofit/>
          </a:bodyPr>
          <a:lstStyle/>
          <a:p>
            <a:pPr algn="r"/>
            <a:r>
              <a:rPr lang="en-US" dirty="0"/>
              <a:t>Group 12</a:t>
            </a:r>
          </a:p>
        </p:txBody>
      </p:sp>
      <p:pic>
        <p:nvPicPr>
          <p:cNvPr id="1026" name="Picture 2" descr="University of Tartu - Wikipedia">
            <a:extLst>
              <a:ext uri="{FF2B5EF4-FFF2-40B4-BE49-F238E27FC236}">
                <a16:creationId xmlns:a16="http://schemas.microsoft.com/office/drawing/2014/main" id="{F0E5F850-068A-D6B3-3D4D-711FA7681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232" y="2115012"/>
            <a:ext cx="2624408" cy="2624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90011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E3AC2-D046-8BB1-5E1A-B9F6007D7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3BB02-40F0-1A3E-5B54-3879674AF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Federated Learning (FL) Overview</a:t>
            </a:r>
          </a:p>
          <a:p>
            <a:r>
              <a:rPr lang="en-US" dirty="0"/>
              <a:t>Definition and significance</a:t>
            </a:r>
          </a:p>
          <a:p>
            <a:r>
              <a:rPr lang="en-US" dirty="0"/>
              <a:t>Advantages: Data privacy, security, decentralized computation</a:t>
            </a:r>
          </a:p>
          <a:p>
            <a:pPr marL="0" indent="0">
              <a:buNone/>
            </a:pPr>
            <a:r>
              <a:rPr lang="en-US" sz="3200" b="1" dirty="0"/>
              <a:t>Project Objective</a:t>
            </a:r>
          </a:p>
          <a:p>
            <a:r>
              <a:rPr lang="en-US" dirty="0"/>
              <a:t>Deploy and compare Flower and </a:t>
            </a:r>
            <a:r>
              <a:rPr lang="en-US" dirty="0" err="1"/>
              <a:t>FEDn</a:t>
            </a:r>
            <a:r>
              <a:rPr lang="en-US" dirty="0"/>
              <a:t> frameworks</a:t>
            </a:r>
          </a:p>
          <a:p>
            <a:r>
              <a:rPr lang="en-US" dirty="0"/>
              <a:t>Train VGG16 on CIFAR dataset</a:t>
            </a:r>
          </a:p>
          <a:p>
            <a:r>
              <a:rPr lang="en-US" dirty="0"/>
              <a:t>Evaluate and compare performance metrics</a:t>
            </a:r>
          </a:p>
        </p:txBody>
      </p:sp>
    </p:spTree>
    <p:extLst>
      <p:ext uri="{BB962C8B-B14F-4D97-AF65-F5344CB8AC3E}">
        <p14:creationId xmlns:p14="http://schemas.microsoft.com/office/powerpoint/2010/main" val="14120441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BC845-29A1-632E-19A0-90C13DF0F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Centralized Model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38CB9-C989-76A5-7B18-8F9E128B0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Training Approach: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Combined data from all 5 clients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Training configuration: 10 epochs, CNN architecture</a:t>
            </a:r>
          </a:p>
          <a:p>
            <a:pPr marL="0" indent="0">
              <a:buNone/>
            </a:pPr>
            <a:r>
              <a:rPr lang="en-US" sz="3200" b="1" dirty="0"/>
              <a:t>Evaluation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Lost, Accuracy.</a:t>
            </a:r>
          </a:p>
        </p:txBody>
      </p:sp>
    </p:spTree>
    <p:extLst>
      <p:ext uri="{BB962C8B-B14F-4D97-AF65-F5344CB8AC3E}">
        <p14:creationId xmlns:p14="http://schemas.microsoft.com/office/powerpoint/2010/main" val="35330194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A4DBB-B76F-2E13-4C1E-706D8B359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Federated Learning with Flower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DA862-6F0F-4F00-5B03-A10BA9DF5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Training Configuration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5 clients, 10 rounds, 3 epochs per round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FedAVG</a:t>
            </a:r>
            <a:r>
              <a:rPr lang="en-US" dirty="0"/>
              <a:t> algorithm</a:t>
            </a:r>
          </a:p>
          <a:p>
            <a:pPr marL="0" indent="0">
              <a:buNone/>
            </a:pPr>
            <a:r>
              <a:rPr lang="en-US" sz="3200" b="1" dirty="0"/>
              <a:t>Implementation Details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Client-server architecture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distribution and training process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2638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CF6CA-F155-4BD6-1AF7-92CCCB49F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Comparison of Results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863376-45E6-98BF-6F00-A05D626B9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2677" y="2024948"/>
            <a:ext cx="9706646" cy="400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388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9F76E-4051-55AA-4556-705C872CB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D988E-60FE-4531-A1CA-A6AD0DFF8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300" b="1" dirty="0"/>
              <a:t>Summary of Findings</a:t>
            </a:r>
            <a:endParaRPr lang="en-US" dirty="0"/>
          </a:p>
          <a:p>
            <a:r>
              <a:rPr lang="en-US" dirty="0"/>
              <a:t>Implemented federated learning using the Flower framework and compared it with centralized training, both using a CNN model on CIFAR-10.</a:t>
            </a:r>
          </a:p>
          <a:p>
            <a:r>
              <a:rPr lang="en-US" dirty="0"/>
              <a:t>Evaluated model performance using loss and accuracy metrics.</a:t>
            </a:r>
          </a:p>
          <a:p>
            <a:pPr marL="0" indent="0">
              <a:buNone/>
            </a:pPr>
            <a:r>
              <a:rPr lang="en-US" sz="3300" b="1" dirty="0"/>
              <a:t>Key Results</a:t>
            </a:r>
            <a:endParaRPr lang="en-US" dirty="0"/>
          </a:p>
          <a:p>
            <a:r>
              <a:rPr lang="en-US" dirty="0"/>
              <a:t>Accuracy: The federated model with Flower achieved competitive accuracy compared to the centralized model, demonstrating the capability of federated learning to maintain performance while keeping data distributed.</a:t>
            </a:r>
          </a:p>
          <a:p>
            <a:r>
              <a:rPr lang="en-US" dirty="0"/>
              <a:t>Loss: Both training approaches showed a decrease in loss, with the federated model achieving comparable loss to the centralized model, proving the efficiency of federated learning.</a:t>
            </a:r>
          </a:p>
        </p:txBody>
      </p:sp>
    </p:spTree>
    <p:extLst>
      <p:ext uri="{BB962C8B-B14F-4D97-AF65-F5344CB8AC3E}">
        <p14:creationId xmlns:p14="http://schemas.microsoft.com/office/powerpoint/2010/main" val="4787639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ECFED2-0E0D-BC8B-BEDC-0179D6A02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383528"/>
            <a:ext cx="5925989" cy="31675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9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Questions?</a:t>
            </a:r>
          </a:p>
        </p:txBody>
      </p:sp>
      <p:pic>
        <p:nvPicPr>
          <p:cNvPr id="18" name="Graphic 17" descr="Questions">
            <a:extLst>
              <a:ext uri="{FF2B5EF4-FFF2-40B4-BE49-F238E27FC236}">
                <a16:creationId xmlns:a16="http://schemas.microsoft.com/office/drawing/2014/main" id="{80580D0C-CCED-2FBE-0F73-7FB3692230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9140" y="2209474"/>
            <a:ext cx="2489416" cy="248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330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972</Words>
  <Application>Microsoft Macintosh PowerPoint</Application>
  <PresentationFormat>Widescreen</PresentationFormat>
  <Paragraphs>179</Paragraphs>
  <Slides>40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-webkit-standard</vt:lpstr>
      <vt:lpstr>Aptos</vt:lpstr>
      <vt:lpstr>Aptos Display</vt:lpstr>
      <vt:lpstr>Arial</vt:lpstr>
      <vt:lpstr>Office Theme</vt:lpstr>
      <vt:lpstr>Project 1 - Analyzing New York City Taxi Data with Spark</vt:lpstr>
      <vt:lpstr>Introduction</vt:lpstr>
      <vt:lpstr>Methodology Overview</vt:lpstr>
      <vt:lpstr>Implementation</vt:lpstr>
      <vt:lpstr>Results</vt:lpstr>
      <vt:lpstr>Visualization</vt:lpstr>
      <vt:lpstr>Visualization</vt:lpstr>
      <vt:lpstr>Visualization</vt:lpstr>
      <vt:lpstr>Visualization</vt:lpstr>
      <vt:lpstr>Project 2 - Analyzing New York City Taxi Data with Spark Structured Streaming</vt:lpstr>
      <vt:lpstr>Introduction</vt:lpstr>
      <vt:lpstr>Development Environment</vt:lpstr>
      <vt:lpstr>Data Ingestion</vt:lpstr>
      <vt:lpstr>Data Processing</vt:lpstr>
      <vt:lpstr>Query 1 - Utilization Over Time</vt:lpstr>
      <vt:lpstr>Query 2 - Average Time to Next Fare</vt:lpstr>
      <vt:lpstr>PowerPoint Presentation</vt:lpstr>
      <vt:lpstr>Query 3 - Trips Within Same Borough</vt:lpstr>
      <vt:lpstr>PowerPoint Presentation</vt:lpstr>
      <vt:lpstr>Query 4 - Trips Between Different Boroughs</vt:lpstr>
      <vt:lpstr>Data Visualization</vt:lpstr>
      <vt:lpstr>Conclusion</vt:lpstr>
      <vt:lpstr>Project 3 - BD Analytics Clustering Project</vt:lpstr>
      <vt:lpstr>Introduction</vt:lpstr>
      <vt:lpstr>Project Goal</vt:lpstr>
      <vt:lpstr>Data Set</vt:lpstr>
      <vt:lpstr>Data Reading and Understanding</vt:lpstr>
      <vt:lpstr>Preprocessing</vt:lpstr>
      <vt:lpstr>Vectorization</vt:lpstr>
      <vt:lpstr>Clustering</vt:lpstr>
      <vt:lpstr>Search Engine</vt:lpstr>
      <vt:lpstr>Results and Analysis</vt:lpstr>
      <vt:lpstr>Recommendation Results</vt:lpstr>
      <vt:lpstr>Project 4 –Federated Learning Project</vt:lpstr>
      <vt:lpstr>Introduction</vt:lpstr>
      <vt:lpstr>Centralized Model Training</vt:lpstr>
      <vt:lpstr>Federated Learning with Flower</vt:lpstr>
      <vt:lpstr>Comparison of Results</vt:lpstr>
      <vt:lpstr>Conclusion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1 - Analyzing New York City Taxi Data with Spark</dc:title>
  <dc:creator>Aytaj Nurullazade</dc:creator>
  <cp:lastModifiedBy>Aytaj Nurullazade</cp:lastModifiedBy>
  <cp:revision>2</cp:revision>
  <dcterms:created xsi:type="dcterms:W3CDTF">2024-06-09T11:40:43Z</dcterms:created>
  <dcterms:modified xsi:type="dcterms:W3CDTF">2024-06-09T14:56:42Z</dcterms:modified>
</cp:coreProperties>
</file>